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0" r:id="rId3"/>
    <p:sldId id="261" r:id="rId4"/>
    <p:sldId id="259" r:id="rId5"/>
    <p:sldId id="262" r:id="rId6"/>
    <p:sldId id="263" r:id="rId7"/>
    <p:sldId id="264" r:id="rId8"/>
    <p:sldId id="265" r:id="rId9"/>
    <p:sldId id="257" r:id="rId10"/>
  </p:sldIdLst>
  <p:sldSz cx="9144000" cy="6858000" type="screen4x3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4" d="100"/>
          <a:sy n="64" d="100"/>
        </p:scale>
        <p:origin x="-1336" y="-6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ottotitolo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it-IT" smtClean="0"/>
              <a:t>Fare clic per modificare lo stile del sottotitolo dello schema</a:t>
            </a:r>
            <a:endParaRPr lang="it-IT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49D355-16BD-4E45-BD9A-5EA878CF7CBD}" type="datetimeFigureOut">
              <a:rPr lang="it-IT" smtClean="0"/>
              <a:t>26/02/2026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A41E1B-4F70-4964-A407-84C68BE8251C}" type="slidenum">
              <a:rPr lang="it-IT" smtClean="0"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49D355-16BD-4E45-BD9A-5EA878CF7CBD}" type="datetimeFigureOut">
              <a:rPr lang="it-IT" smtClean="0"/>
              <a:t>26/02/2026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A41E1B-4F70-4964-A407-84C68BE8251C}" type="slidenum">
              <a:rPr lang="it-IT" smtClean="0"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49D355-16BD-4E45-BD9A-5EA878CF7CBD}" type="datetimeFigureOut">
              <a:rPr lang="it-IT" smtClean="0"/>
              <a:t>26/02/2026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A41E1B-4F70-4964-A407-84C68BE8251C}" type="slidenum">
              <a:rPr lang="it-IT" smtClean="0"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contenuto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49D355-16BD-4E45-BD9A-5EA878CF7CBD}" type="datetimeFigureOut">
              <a:rPr lang="it-IT" smtClean="0"/>
              <a:t>26/02/2026</a:t>
            </a:fld>
            <a:endParaRPr lang="it-IT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A41E1B-4F70-4964-A407-84C68BE8251C}" type="slidenum">
              <a:rPr lang="it-IT" smtClean="0"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5" name="Segnaposto tes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6" name="Segnaposto contenut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7" name="Segnaposto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49D355-16BD-4E45-BD9A-5EA878CF7CBD}" type="datetimeFigureOut">
              <a:rPr lang="it-IT" smtClean="0"/>
              <a:t>26/02/2026</a:t>
            </a:fld>
            <a:endParaRPr lang="it-IT"/>
          </a:p>
        </p:txBody>
      </p:sp>
      <p:sp>
        <p:nvSpPr>
          <p:cNvPr id="8" name="Segnaposto piè di pa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numero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A41E1B-4F70-4964-A407-84C68BE8251C}" type="slidenum">
              <a:rPr lang="it-IT" smtClean="0"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49D355-16BD-4E45-BD9A-5EA878CF7CBD}" type="datetimeFigureOut">
              <a:rPr lang="it-IT" smtClean="0"/>
              <a:t>26/02/2026</a:t>
            </a:fld>
            <a:endParaRPr lang="it-IT"/>
          </a:p>
        </p:txBody>
      </p:sp>
      <p:sp>
        <p:nvSpPr>
          <p:cNvPr id="4" name="Segnaposto piè di pa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A41E1B-4F70-4964-A407-84C68BE8251C}" type="slidenum">
              <a:rPr lang="it-IT" smtClean="0"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49D355-16BD-4E45-BD9A-5EA878CF7CBD}" type="datetimeFigureOut">
              <a:rPr lang="it-IT" smtClean="0"/>
              <a:t>26/02/2026</a:t>
            </a:fld>
            <a:endParaRPr lang="it-IT"/>
          </a:p>
        </p:txBody>
      </p:sp>
      <p:sp>
        <p:nvSpPr>
          <p:cNvPr id="3" name="Segnaposto piè di pa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A41E1B-4F70-4964-A407-84C68BE8251C}" type="slidenum">
              <a:rPr lang="it-IT" smtClean="0"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49D355-16BD-4E45-BD9A-5EA878CF7CBD}" type="datetimeFigureOut">
              <a:rPr lang="it-IT" smtClean="0"/>
              <a:t>26/02/2026</a:t>
            </a:fld>
            <a:endParaRPr lang="it-IT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A41E1B-4F70-4964-A407-84C68BE8251C}" type="slidenum">
              <a:rPr lang="it-IT" smtClean="0"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immagine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49D355-16BD-4E45-BD9A-5EA878CF7CBD}" type="datetimeFigureOut">
              <a:rPr lang="it-IT" smtClean="0"/>
              <a:t>26/02/2026</a:t>
            </a:fld>
            <a:endParaRPr lang="it-IT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A41E1B-4F70-4964-A407-84C68BE8251C}" type="slidenum">
              <a:rPr lang="it-IT" smtClean="0"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49D355-16BD-4E45-BD9A-5EA878CF7CBD}" type="datetimeFigureOut">
              <a:rPr lang="it-IT" smtClean="0"/>
              <a:t>26/02/2026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A41E1B-4F70-4964-A407-84C68BE8251C}" type="slidenum">
              <a:rPr lang="it-IT" smtClean="0"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49D355-16BD-4E45-BD9A-5EA878CF7CBD}" type="datetimeFigureOut">
              <a:rPr lang="it-IT" smtClean="0"/>
              <a:t>26/02/2026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A41E1B-4F70-4964-A407-84C68BE8251C}" type="slidenum">
              <a:rPr lang="it-IT" smtClean="0"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49D355-16BD-4E45-BD9A-5EA878CF7CBD}" type="datetimeFigureOut">
              <a:rPr lang="it-IT" smtClean="0"/>
              <a:t>26/02/2026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A41E1B-4F70-4964-A407-84C68BE8251C}" type="slidenum">
              <a:rPr lang="it-IT" smtClean="0"/>
              <a:t>‹N›</a:t>
            </a:fld>
            <a:endParaRPr lang="it-IT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:\Users\nives\AllFolders\UnitnBookingBot\pictures\unitn_logo.png"/>
          <p:cNvPicPr>
            <a:picLocks noChangeAspect="1" noChangeArrowheads="1"/>
          </p:cNvPicPr>
          <p:nvPr/>
        </p:nvPicPr>
        <p:blipFill>
          <a:blip r:embed="rId2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7624" y="1419"/>
            <a:ext cx="6858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olo 1"/>
          <p:cNvSpPr>
            <a:spLocks noGrp="1"/>
          </p:cNvSpPr>
          <p:nvPr>
            <p:ph type="ctrTitle"/>
          </p:nvPr>
        </p:nvSpPr>
        <p:spPr>
          <a:xfrm>
            <a:off x="688032" y="2391023"/>
            <a:ext cx="7772400" cy="1470025"/>
          </a:xfrm>
        </p:spPr>
        <p:txBody>
          <a:bodyPr/>
          <a:lstStyle/>
          <a:p>
            <a:r>
              <a:rPr lang="en-US" b="1" dirty="0" err="1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UniTN</a:t>
            </a:r>
            <a:r>
              <a:rPr lang="en-US" b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 Booking Bot</a:t>
            </a:r>
            <a:endParaRPr lang="en-US" b="1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Sottotitolo 2"/>
          <p:cNvSpPr>
            <a:spLocks noGrp="1"/>
          </p:cNvSpPr>
          <p:nvPr>
            <p:ph type="subTitle" idx="1"/>
          </p:nvPr>
        </p:nvSpPr>
        <p:spPr>
          <a:xfrm>
            <a:off x="1043608" y="3789040"/>
            <a:ext cx="7088832" cy="1752600"/>
          </a:xfrm>
        </p:spPr>
        <p:txBody>
          <a:bodyPr/>
          <a:lstStyle/>
          <a:p>
            <a:r>
              <a:rPr lang="en-US" i="1" dirty="0" smtClean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Laboratory </a:t>
            </a:r>
            <a:r>
              <a:rPr lang="en-US" i="1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of Internet of </a:t>
            </a:r>
            <a:r>
              <a:rPr lang="en-US" i="1" dirty="0" smtClean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Things</a:t>
            </a:r>
          </a:p>
          <a:p>
            <a:r>
              <a:rPr lang="en-US" i="1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Course Project</a:t>
            </a:r>
            <a:endParaRPr lang="en-US" i="1" dirty="0">
              <a:solidFill>
                <a:schemeClr val="tx2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389253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67544" y="274638"/>
            <a:ext cx="8219256" cy="1143000"/>
          </a:xfrm>
        </p:spPr>
        <p:txBody>
          <a:bodyPr/>
          <a:lstStyle/>
          <a:p>
            <a:r>
              <a:rPr lang="en-US" b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The Purpose</a:t>
            </a:r>
            <a:endParaRPr lang="en-US" b="1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4" name="Picture 2" descr="C:\Users\nives\AllFolders\UnitnBookingBot\pictures\unitn_logo.png"/>
          <p:cNvPicPr>
            <a:picLocks noChangeAspect="1" noChangeArrowheads="1"/>
          </p:cNvPicPr>
          <p:nvPr/>
        </p:nvPicPr>
        <p:blipFill>
          <a:blip r:embed="rId2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728192" cy="17281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Segnaposto contenuto 2"/>
          <p:cNvSpPr>
            <a:spLocks noGrp="1"/>
          </p:cNvSpPr>
          <p:nvPr>
            <p:ph idx="1"/>
          </p:nvPr>
        </p:nvSpPr>
        <p:spPr>
          <a:xfrm>
            <a:off x="457200" y="2276872"/>
            <a:ext cx="8229600" cy="1512168"/>
          </a:xfrm>
        </p:spPr>
        <p:txBody>
          <a:bodyPr/>
          <a:lstStyle/>
          <a:p>
            <a:pPr marL="0" indent="0"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A Telegram Bot to advertise, book and manage appointments at the University of Trento.</a:t>
            </a:r>
          </a:p>
        </p:txBody>
      </p:sp>
      <p:sp>
        <p:nvSpPr>
          <p:cNvPr id="7" name="Segnaposto contenuto 2"/>
          <p:cNvSpPr txBox="1">
            <a:spLocks/>
          </p:cNvSpPr>
          <p:nvPr/>
        </p:nvSpPr>
        <p:spPr>
          <a:xfrm>
            <a:off x="467544" y="3789040"/>
            <a:ext cx="8229600" cy="223224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itchFamily="34" charset="0"/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Particularly suited for student-company events: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Industrial Engineering Days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ICT Days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575242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67544" y="274638"/>
            <a:ext cx="8219256" cy="1143000"/>
          </a:xfrm>
        </p:spPr>
        <p:txBody>
          <a:bodyPr/>
          <a:lstStyle/>
          <a:p>
            <a:r>
              <a:rPr lang="en-US" b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The Database</a:t>
            </a:r>
            <a:endParaRPr lang="en-US" b="1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4" name="Picture 2" descr="C:\Users\nives\AllFolders\UnitnBookingBot\pictures\unitn_logo.png"/>
          <p:cNvPicPr>
            <a:picLocks noChangeAspect="1" noChangeArrowheads="1"/>
          </p:cNvPicPr>
          <p:nvPr/>
        </p:nvPicPr>
        <p:blipFill>
          <a:blip r:embed="rId2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728192" cy="17281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Segnaposto contenuto 2"/>
          <p:cNvSpPr>
            <a:spLocks noGrp="1"/>
          </p:cNvSpPr>
          <p:nvPr>
            <p:ph idx="1"/>
          </p:nvPr>
        </p:nvSpPr>
        <p:spPr>
          <a:xfrm>
            <a:off x="457200" y="2276872"/>
            <a:ext cx="8229600" cy="3849291"/>
          </a:xfrm>
        </p:spPr>
        <p:txBody>
          <a:bodyPr/>
          <a:lstStyle/>
          <a:p>
            <a:pPr marL="0" indent="0"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SQLite Database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Structured Data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High transaction volume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Single file portability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Natively available on Python</a:t>
            </a:r>
          </a:p>
        </p:txBody>
      </p:sp>
    </p:spTree>
    <p:extLst>
      <p:ext uri="{BB962C8B-B14F-4D97-AF65-F5344CB8AC3E}">
        <p14:creationId xmlns:p14="http://schemas.microsoft.com/office/powerpoint/2010/main" val="38764271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67544" y="274638"/>
            <a:ext cx="8219256" cy="1143000"/>
          </a:xfrm>
        </p:spPr>
        <p:txBody>
          <a:bodyPr/>
          <a:lstStyle/>
          <a:p>
            <a:r>
              <a:rPr lang="en-US" b="1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The Database</a:t>
            </a:r>
            <a:endParaRPr lang="en-US" b="1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4" name="Picture 2" descr="C:\Users\nives\AllFolders\UnitnBookingBot\pictures\unitn_logo.png"/>
          <p:cNvPicPr>
            <a:picLocks noChangeAspect="1" noChangeArrowheads="1"/>
          </p:cNvPicPr>
          <p:nvPr/>
        </p:nvPicPr>
        <p:blipFill>
          <a:blip r:embed="rId2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728192" cy="17281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 descr="C:\Users\nives\AllFolders\UnitnBookingBot\pictures\database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5023" y="2204864"/>
            <a:ext cx="8736850" cy="38884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447016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67544" y="274638"/>
            <a:ext cx="8219256" cy="1143000"/>
          </a:xfrm>
        </p:spPr>
        <p:txBody>
          <a:bodyPr/>
          <a:lstStyle/>
          <a:p>
            <a:r>
              <a:rPr lang="en-US" b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The Telegram Bot API</a:t>
            </a:r>
            <a:endParaRPr lang="en-US" b="1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4" name="Picture 2" descr="C:\Users\nives\AllFolders\UnitnBookingBot\pictures\unitn_logo.png"/>
          <p:cNvPicPr>
            <a:picLocks noChangeAspect="1" noChangeArrowheads="1"/>
          </p:cNvPicPr>
          <p:nvPr/>
        </p:nvPicPr>
        <p:blipFill>
          <a:blip r:embed="rId2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728192" cy="17281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Segnaposto contenuto 2"/>
          <p:cNvSpPr>
            <a:spLocks noGrp="1"/>
          </p:cNvSpPr>
          <p:nvPr>
            <p:ph idx="1"/>
          </p:nvPr>
        </p:nvSpPr>
        <p:spPr>
          <a:xfrm>
            <a:off x="446856" y="1916832"/>
            <a:ext cx="8229600" cy="3849291"/>
          </a:xfrm>
        </p:spPr>
        <p:txBody>
          <a:bodyPr/>
          <a:lstStyle/>
          <a:p>
            <a:pPr marL="0" indent="0"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Stateless API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Message Handlers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Command Handlers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Callback Query Handlers</a:t>
            </a:r>
          </a:p>
        </p:txBody>
      </p:sp>
      <p:pic>
        <p:nvPicPr>
          <p:cNvPr id="3074" name="Picture 2" descr="C:\Users\nives\AllFolders\UnitnBookingBot\pictures\whoami_handler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92893" y="1771599"/>
            <a:ext cx="4832537" cy="12961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5" name="Picture 3" descr="C:\Users\nives\AllFolders\UnitnBookingBot\pictures\whoami_function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3607" y="4653136"/>
            <a:ext cx="7012671" cy="16561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905842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67544" y="274638"/>
            <a:ext cx="8219256" cy="1143000"/>
          </a:xfrm>
        </p:spPr>
        <p:txBody>
          <a:bodyPr/>
          <a:lstStyle/>
          <a:p>
            <a:r>
              <a:rPr lang="en-US" b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The Telegram Bot API</a:t>
            </a:r>
            <a:endParaRPr lang="en-US" b="1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4" name="Picture 2" descr="C:\Users\nives\AllFolders\UnitnBookingBot\pictures\unitn_logo.png"/>
          <p:cNvPicPr>
            <a:picLocks noChangeAspect="1" noChangeArrowheads="1"/>
          </p:cNvPicPr>
          <p:nvPr/>
        </p:nvPicPr>
        <p:blipFill>
          <a:blip r:embed="rId2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728192" cy="17281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Segnaposto contenuto 2"/>
          <p:cNvSpPr>
            <a:spLocks noGrp="1"/>
          </p:cNvSpPr>
          <p:nvPr>
            <p:ph idx="1"/>
          </p:nvPr>
        </p:nvSpPr>
        <p:spPr>
          <a:xfrm>
            <a:off x="435471" y="1916833"/>
            <a:ext cx="8229600" cy="1368152"/>
          </a:xfrm>
        </p:spPr>
        <p:txBody>
          <a:bodyPr/>
          <a:lstStyle/>
          <a:p>
            <a:pPr marL="0" indent="0">
              <a:buNone/>
            </a:pP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Stateful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API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Conversation Handlers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4098" name="Picture 2" descr="C:\Users\nives\AllFolders\UnitnBookingBot\pictures\book_handler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4096" y="3284984"/>
            <a:ext cx="7372350" cy="3263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148043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67544" y="274638"/>
            <a:ext cx="8219256" cy="1143000"/>
          </a:xfrm>
        </p:spPr>
        <p:txBody>
          <a:bodyPr/>
          <a:lstStyle/>
          <a:p>
            <a:r>
              <a:rPr lang="en-US" b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The Documentation</a:t>
            </a:r>
            <a:endParaRPr lang="en-US" b="1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4" name="Picture 2" descr="C:\Users\nives\AllFolders\UnitnBookingBot\pictures\unitn_logo.png"/>
          <p:cNvPicPr>
            <a:picLocks noChangeAspect="1" noChangeArrowheads="1"/>
          </p:cNvPicPr>
          <p:nvPr/>
        </p:nvPicPr>
        <p:blipFill>
          <a:blip r:embed="rId2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728192" cy="17281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Segnaposto contenuto 2"/>
          <p:cNvSpPr>
            <a:spLocks noGrp="1"/>
          </p:cNvSpPr>
          <p:nvPr>
            <p:ph idx="1"/>
          </p:nvPr>
        </p:nvSpPr>
        <p:spPr>
          <a:xfrm>
            <a:off x="435471" y="1916832"/>
            <a:ext cx="8229600" cy="187220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Full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Doxygen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documentation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All functions have description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Available online trough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GitHub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pages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5122" name="Picture 2" descr="C:\Users\nives\AllFolders\UnitnBookingBot\pictures\documentation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584" y="3704931"/>
            <a:ext cx="7431494" cy="3036437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894642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67544" y="274638"/>
            <a:ext cx="8219256" cy="1143000"/>
          </a:xfrm>
        </p:spPr>
        <p:txBody>
          <a:bodyPr/>
          <a:lstStyle/>
          <a:p>
            <a:r>
              <a:rPr lang="en-US" b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The Commands</a:t>
            </a:r>
            <a:endParaRPr lang="en-US" b="1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4" name="Picture 2" descr="C:\Users\nives\AllFolders\UnitnBookingBot\pictures\unitn_logo.png"/>
          <p:cNvPicPr>
            <a:picLocks noChangeAspect="1" noChangeArrowheads="1"/>
          </p:cNvPicPr>
          <p:nvPr/>
        </p:nvPicPr>
        <p:blipFill>
          <a:blip r:embed="rId2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728192" cy="17281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Segnaposto contenuto 2"/>
          <p:cNvSpPr>
            <a:spLocks noGrp="1"/>
          </p:cNvSpPr>
          <p:nvPr>
            <p:ph idx="1"/>
          </p:nvPr>
        </p:nvSpPr>
        <p:spPr>
          <a:xfrm>
            <a:off x="435471" y="1916833"/>
            <a:ext cx="8229600" cy="648071"/>
          </a:xfrm>
        </p:spPr>
        <p:txBody>
          <a:bodyPr/>
          <a:lstStyle/>
          <a:p>
            <a:pPr marL="0" indent="0">
              <a:buNone/>
            </a:pPr>
            <a:r>
              <a:rPr lang="en-US" i="1" dirty="0" smtClean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For general information:</a:t>
            </a:r>
            <a:endParaRPr lang="en-US" i="1" dirty="0">
              <a:solidFill>
                <a:schemeClr val="tx2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Rettangolo 2"/>
          <p:cNvSpPr/>
          <p:nvPr/>
        </p:nvSpPr>
        <p:spPr>
          <a:xfrm>
            <a:off x="454458" y="2607295"/>
            <a:ext cx="127150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it-IT" sz="2400" dirty="0" smtClean="0">
                <a:latin typeface="Cascadia Code SemiLight" pitchFamily="49" charset="0"/>
                <a:cs typeface="Cascadia Code SemiLight" pitchFamily="49" charset="0"/>
              </a:rPr>
              <a:t>/</a:t>
            </a:r>
            <a:r>
              <a:rPr lang="it-IT" sz="2400" dirty="0" err="1" smtClean="0">
                <a:latin typeface="Cascadia Code SemiLight" pitchFamily="49" charset="0"/>
                <a:cs typeface="Cascadia Code SemiLight" pitchFamily="49" charset="0"/>
              </a:rPr>
              <a:t>fairs</a:t>
            </a:r>
            <a:endParaRPr lang="it-IT" sz="2400" dirty="0">
              <a:latin typeface="Cascadia Code SemiLight" pitchFamily="49" charset="0"/>
              <a:cs typeface="Cascadia Code SemiLight" pitchFamily="49" charset="0"/>
            </a:endParaRPr>
          </a:p>
        </p:txBody>
      </p:sp>
      <p:sp>
        <p:nvSpPr>
          <p:cNvPr id="7" name="Rettangolo 6"/>
          <p:cNvSpPr/>
          <p:nvPr/>
        </p:nvSpPr>
        <p:spPr>
          <a:xfrm>
            <a:off x="6563158" y="2607295"/>
            <a:ext cx="145264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it-IT" sz="2400" dirty="0">
                <a:latin typeface="Cascadia Code SemiLight" pitchFamily="49" charset="0"/>
                <a:cs typeface="Cascadia Code SemiLight" pitchFamily="49" charset="0"/>
              </a:rPr>
              <a:t>/</a:t>
            </a:r>
            <a:r>
              <a:rPr lang="it-IT" sz="2400" dirty="0" err="1">
                <a:latin typeface="Cascadia Code SemiLight" pitchFamily="49" charset="0"/>
                <a:cs typeface="Cascadia Code SemiLight" pitchFamily="49" charset="0"/>
              </a:rPr>
              <a:t>whoami</a:t>
            </a:r>
            <a:endParaRPr lang="it-IT" sz="2400" dirty="0">
              <a:latin typeface="Cascadia Code SemiLight" pitchFamily="49" charset="0"/>
              <a:cs typeface="Cascadia Code SemiLight" pitchFamily="49" charset="0"/>
            </a:endParaRPr>
          </a:p>
        </p:txBody>
      </p:sp>
      <p:sp>
        <p:nvSpPr>
          <p:cNvPr id="8" name="Rettangolo 7"/>
          <p:cNvSpPr/>
          <p:nvPr/>
        </p:nvSpPr>
        <p:spPr>
          <a:xfrm>
            <a:off x="3509806" y="2607295"/>
            <a:ext cx="145264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it-IT" sz="2400" dirty="0">
                <a:latin typeface="Cascadia Code SemiLight" pitchFamily="49" charset="0"/>
                <a:cs typeface="Cascadia Code SemiLight" pitchFamily="49" charset="0"/>
              </a:rPr>
              <a:t>/</a:t>
            </a:r>
            <a:r>
              <a:rPr lang="it-IT" sz="2400" dirty="0" err="1">
                <a:latin typeface="Cascadia Code SemiLight" pitchFamily="49" charset="0"/>
                <a:cs typeface="Cascadia Code SemiLight" pitchFamily="49" charset="0"/>
              </a:rPr>
              <a:t>events</a:t>
            </a:r>
            <a:endParaRPr lang="it-IT" sz="2400" dirty="0">
              <a:latin typeface="Cascadia Code SemiLight" pitchFamily="49" charset="0"/>
              <a:cs typeface="Cascadia Code SemiLight" pitchFamily="49" charset="0"/>
            </a:endParaRPr>
          </a:p>
        </p:txBody>
      </p:sp>
      <p:sp>
        <p:nvSpPr>
          <p:cNvPr id="9" name="Rettangolo 8"/>
          <p:cNvSpPr/>
          <p:nvPr/>
        </p:nvSpPr>
        <p:spPr>
          <a:xfrm>
            <a:off x="454458" y="3933056"/>
            <a:ext cx="109036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it-IT" sz="2400" dirty="0">
                <a:latin typeface="Cascadia Code SemiLight" pitchFamily="49" charset="0"/>
                <a:cs typeface="Cascadia Code SemiLight" pitchFamily="49" charset="0"/>
              </a:rPr>
              <a:t>/book</a:t>
            </a:r>
          </a:p>
        </p:txBody>
      </p:sp>
      <p:sp>
        <p:nvSpPr>
          <p:cNvPr id="10" name="Rettangolo 9"/>
          <p:cNvSpPr/>
          <p:nvPr/>
        </p:nvSpPr>
        <p:spPr>
          <a:xfrm>
            <a:off x="6563158" y="3933054"/>
            <a:ext cx="217719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it-IT" sz="2400" dirty="0">
                <a:latin typeface="Cascadia Code SemiLight" pitchFamily="49" charset="0"/>
                <a:cs typeface="Cascadia Code SemiLight" pitchFamily="49" charset="0"/>
              </a:rPr>
              <a:t>/</a:t>
            </a:r>
            <a:r>
              <a:rPr lang="it-IT" sz="2400" dirty="0" err="1">
                <a:latin typeface="Cascadia Code SemiLight" pitchFamily="49" charset="0"/>
                <a:cs typeface="Cascadia Code SemiLight" pitchFamily="49" charset="0"/>
              </a:rPr>
              <a:t>mybookings</a:t>
            </a:r>
            <a:endParaRPr lang="it-IT" sz="2400" dirty="0">
              <a:latin typeface="Cascadia Code SemiLight" pitchFamily="49" charset="0"/>
              <a:cs typeface="Cascadia Code SemiLight" pitchFamily="49" charset="0"/>
            </a:endParaRPr>
          </a:p>
        </p:txBody>
      </p:sp>
      <p:sp>
        <p:nvSpPr>
          <p:cNvPr id="11" name="Rettangolo 10"/>
          <p:cNvSpPr/>
          <p:nvPr/>
        </p:nvSpPr>
        <p:spPr>
          <a:xfrm>
            <a:off x="3509806" y="3933055"/>
            <a:ext cx="145264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it-IT" sz="2400" dirty="0">
                <a:latin typeface="Cascadia Code SemiLight" pitchFamily="49" charset="0"/>
                <a:cs typeface="Cascadia Code SemiLight" pitchFamily="49" charset="0"/>
              </a:rPr>
              <a:t>/</a:t>
            </a:r>
            <a:r>
              <a:rPr lang="it-IT" sz="2400" dirty="0" err="1">
                <a:latin typeface="Cascadia Code SemiLight" pitchFamily="49" charset="0"/>
                <a:cs typeface="Cascadia Code SemiLight" pitchFamily="49" charset="0"/>
              </a:rPr>
              <a:t>unbook</a:t>
            </a:r>
            <a:endParaRPr lang="it-IT" sz="2400" dirty="0">
              <a:latin typeface="Cascadia Code SemiLight" pitchFamily="49" charset="0"/>
              <a:cs typeface="Cascadia Code SemiLight" pitchFamily="49" charset="0"/>
            </a:endParaRPr>
          </a:p>
        </p:txBody>
      </p:sp>
      <p:sp>
        <p:nvSpPr>
          <p:cNvPr id="12" name="Rettangolo 11"/>
          <p:cNvSpPr/>
          <p:nvPr/>
        </p:nvSpPr>
        <p:spPr>
          <a:xfrm>
            <a:off x="454458" y="5301208"/>
            <a:ext cx="163378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it-IT" sz="2400" dirty="0">
                <a:latin typeface="Cascadia Code SemiLight" pitchFamily="49" charset="0"/>
                <a:cs typeface="Cascadia Code SemiLight" pitchFamily="49" charset="0"/>
              </a:rPr>
              <a:t>/</a:t>
            </a:r>
            <a:r>
              <a:rPr lang="it-IT" sz="2400" dirty="0" err="1">
                <a:latin typeface="Cascadia Code SemiLight" pitchFamily="49" charset="0"/>
                <a:cs typeface="Cascadia Code SemiLight" pitchFamily="49" charset="0"/>
              </a:rPr>
              <a:t>publish</a:t>
            </a:r>
            <a:endParaRPr lang="it-IT" sz="2400" dirty="0">
              <a:latin typeface="Cascadia Code SemiLight" pitchFamily="49" charset="0"/>
              <a:cs typeface="Cascadia Code SemiLight" pitchFamily="49" charset="0"/>
            </a:endParaRPr>
          </a:p>
        </p:txBody>
      </p:sp>
      <p:sp>
        <p:nvSpPr>
          <p:cNvPr id="13" name="Rettangolo 12"/>
          <p:cNvSpPr/>
          <p:nvPr/>
        </p:nvSpPr>
        <p:spPr>
          <a:xfrm>
            <a:off x="6563158" y="5301208"/>
            <a:ext cx="163378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it-IT" sz="2400" dirty="0">
                <a:latin typeface="Cascadia Code SemiLight" pitchFamily="49" charset="0"/>
                <a:cs typeface="Cascadia Code SemiLight" pitchFamily="49" charset="0"/>
              </a:rPr>
              <a:t>/</a:t>
            </a:r>
            <a:r>
              <a:rPr lang="it-IT" sz="2400" dirty="0" err="1">
                <a:latin typeface="Cascadia Code SemiLight" pitchFamily="49" charset="0"/>
                <a:cs typeface="Cascadia Code SemiLight" pitchFamily="49" charset="0"/>
              </a:rPr>
              <a:t>newslot</a:t>
            </a:r>
            <a:endParaRPr lang="it-IT" sz="2400" dirty="0">
              <a:latin typeface="Cascadia Code SemiLight" pitchFamily="49" charset="0"/>
              <a:cs typeface="Cascadia Code SemiLight" pitchFamily="49" charset="0"/>
            </a:endParaRPr>
          </a:p>
        </p:txBody>
      </p:sp>
      <p:sp>
        <p:nvSpPr>
          <p:cNvPr id="14" name="Rettangolo 13"/>
          <p:cNvSpPr/>
          <p:nvPr/>
        </p:nvSpPr>
        <p:spPr>
          <a:xfrm>
            <a:off x="3509806" y="5301207"/>
            <a:ext cx="199605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it-IT" sz="2400" dirty="0">
                <a:latin typeface="Cascadia Code SemiLight" pitchFamily="49" charset="0"/>
                <a:cs typeface="Cascadia Code SemiLight" pitchFamily="49" charset="0"/>
              </a:rPr>
              <a:t>/</a:t>
            </a:r>
            <a:r>
              <a:rPr lang="it-IT" sz="2400" dirty="0" err="1">
                <a:latin typeface="Cascadia Code SemiLight" pitchFamily="49" charset="0"/>
                <a:cs typeface="Cascadia Code SemiLight" pitchFamily="49" charset="0"/>
              </a:rPr>
              <a:t>changedes</a:t>
            </a:r>
            <a:endParaRPr lang="it-IT" sz="2400" dirty="0">
              <a:latin typeface="Cascadia Code SemiLight" pitchFamily="49" charset="0"/>
              <a:cs typeface="Cascadia Code SemiLight" pitchFamily="49" charset="0"/>
            </a:endParaRPr>
          </a:p>
        </p:txBody>
      </p:sp>
      <p:sp>
        <p:nvSpPr>
          <p:cNvPr id="15" name="Rettangolo 14"/>
          <p:cNvSpPr/>
          <p:nvPr/>
        </p:nvSpPr>
        <p:spPr>
          <a:xfrm>
            <a:off x="454458" y="5892427"/>
            <a:ext cx="217719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it-IT" sz="2400" dirty="0">
                <a:latin typeface="Cascadia Code SemiLight" pitchFamily="49" charset="0"/>
                <a:cs typeface="Cascadia Code SemiLight" pitchFamily="49" charset="0"/>
              </a:rPr>
              <a:t>/</a:t>
            </a:r>
            <a:r>
              <a:rPr lang="it-IT" sz="2400" dirty="0" err="1">
                <a:latin typeface="Cascadia Code SemiLight" pitchFamily="49" charset="0"/>
                <a:cs typeface="Cascadia Code SemiLight" pitchFamily="49" charset="0"/>
              </a:rPr>
              <a:t>deleteslot</a:t>
            </a:r>
            <a:endParaRPr lang="it-IT" sz="2400" dirty="0">
              <a:latin typeface="Cascadia Code SemiLight" pitchFamily="49" charset="0"/>
              <a:cs typeface="Cascadia Code SemiLight" pitchFamily="49" charset="0"/>
            </a:endParaRPr>
          </a:p>
        </p:txBody>
      </p:sp>
      <p:sp>
        <p:nvSpPr>
          <p:cNvPr id="16" name="Rettangolo 15"/>
          <p:cNvSpPr/>
          <p:nvPr/>
        </p:nvSpPr>
        <p:spPr>
          <a:xfrm>
            <a:off x="6563158" y="5895527"/>
            <a:ext cx="181492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it-IT" sz="2400" dirty="0">
                <a:latin typeface="Cascadia Code SemiLight" pitchFamily="49" charset="0"/>
                <a:cs typeface="Cascadia Code SemiLight" pitchFamily="49" charset="0"/>
              </a:rPr>
              <a:t>/</a:t>
            </a:r>
            <a:r>
              <a:rPr lang="it-IT" sz="2400" dirty="0" err="1">
                <a:latin typeface="Cascadia Code SemiLight" pitchFamily="49" charset="0"/>
                <a:cs typeface="Cascadia Code SemiLight" pitchFamily="49" charset="0"/>
              </a:rPr>
              <a:t>myevents</a:t>
            </a:r>
            <a:endParaRPr lang="it-IT" sz="2400" dirty="0">
              <a:latin typeface="Cascadia Code SemiLight" pitchFamily="49" charset="0"/>
              <a:cs typeface="Cascadia Code SemiLight" pitchFamily="49" charset="0"/>
            </a:endParaRPr>
          </a:p>
        </p:txBody>
      </p:sp>
      <p:sp>
        <p:nvSpPr>
          <p:cNvPr id="17" name="Rettangolo 16"/>
          <p:cNvSpPr/>
          <p:nvPr/>
        </p:nvSpPr>
        <p:spPr>
          <a:xfrm>
            <a:off x="3509806" y="5895527"/>
            <a:ext cx="235833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it-IT" sz="2400" dirty="0">
                <a:latin typeface="Cascadia Code SemiLight" pitchFamily="49" charset="0"/>
                <a:cs typeface="Cascadia Code SemiLight" pitchFamily="49" charset="0"/>
              </a:rPr>
              <a:t>/</a:t>
            </a:r>
            <a:r>
              <a:rPr lang="it-IT" sz="2400" dirty="0" err="1">
                <a:latin typeface="Cascadia Code SemiLight" pitchFamily="49" charset="0"/>
                <a:cs typeface="Cascadia Code SemiLight" pitchFamily="49" charset="0"/>
              </a:rPr>
              <a:t>deleteevent</a:t>
            </a:r>
            <a:endParaRPr lang="it-IT" sz="2400" dirty="0">
              <a:latin typeface="Cascadia Code SemiLight" pitchFamily="49" charset="0"/>
              <a:cs typeface="Cascadia Code SemiLight" pitchFamily="49" charset="0"/>
            </a:endParaRPr>
          </a:p>
        </p:txBody>
      </p:sp>
      <p:sp>
        <p:nvSpPr>
          <p:cNvPr id="18" name="Segnaposto contenuto 2"/>
          <p:cNvSpPr txBox="1">
            <a:spLocks/>
          </p:cNvSpPr>
          <p:nvPr/>
        </p:nvSpPr>
        <p:spPr>
          <a:xfrm>
            <a:off x="454458" y="3215609"/>
            <a:ext cx="8229600" cy="64807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itchFamily="34" charset="0"/>
              <a:buNone/>
            </a:pPr>
            <a:r>
              <a:rPr lang="en-US" i="1" dirty="0" smtClean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For event attenders:</a:t>
            </a:r>
            <a:endParaRPr lang="en-US" i="1" dirty="0">
              <a:solidFill>
                <a:schemeClr val="tx2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9" name="Segnaposto contenuto 2"/>
          <p:cNvSpPr txBox="1">
            <a:spLocks/>
          </p:cNvSpPr>
          <p:nvPr/>
        </p:nvSpPr>
        <p:spPr>
          <a:xfrm>
            <a:off x="454458" y="4562258"/>
            <a:ext cx="8229600" cy="64807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itchFamily="34" charset="0"/>
              <a:buNone/>
            </a:pPr>
            <a:r>
              <a:rPr lang="en-US" i="1" dirty="0" smtClean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For event organizers:</a:t>
            </a:r>
            <a:endParaRPr lang="en-US" i="1" dirty="0">
              <a:solidFill>
                <a:schemeClr val="tx2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783548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:\Users\nives\AllFolders\UnitnBookingBot\pictures\unitn_logo.png"/>
          <p:cNvPicPr>
            <a:picLocks noChangeAspect="1" noChangeArrowheads="1"/>
          </p:cNvPicPr>
          <p:nvPr/>
        </p:nvPicPr>
        <p:blipFill>
          <a:blip r:embed="rId2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7624" y="1419"/>
            <a:ext cx="6858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olo 1"/>
          <p:cNvSpPr>
            <a:spLocks noGrp="1"/>
          </p:cNvSpPr>
          <p:nvPr>
            <p:ph type="ctrTitle"/>
          </p:nvPr>
        </p:nvSpPr>
        <p:spPr>
          <a:xfrm>
            <a:off x="688032" y="2391023"/>
            <a:ext cx="7772400" cy="1470025"/>
          </a:xfrm>
        </p:spPr>
        <p:txBody>
          <a:bodyPr/>
          <a:lstStyle/>
          <a:p>
            <a:r>
              <a:rPr lang="en-US" b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The End</a:t>
            </a:r>
            <a:endParaRPr lang="en-US" b="1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701970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96</TotalTime>
  <Words>132</Words>
  <Application>Microsoft Office PowerPoint</Application>
  <PresentationFormat>Presentazione su schermo (4:3)</PresentationFormat>
  <Paragraphs>44</Paragraphs>
  <Slides>9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Titoli diapositive</vt:lpstr>
      </vt:variant>
      <vt:variant>
        <vt:i4>9</vt:i4>
      </vt:variant>
    </vt:vector>
  </HeadingPairs>
  <TitlesOfParts>
    <vt:vector size="10" baseType="lpstr">
      <vt:lpstr>Tema di Office</vt:lpstr>
      <vt:lpstr>UniTN Booking Bot</vt:lpstr>
      <vt:lpstr>The Purpose</vt:lpstr>
      <vt:lpstr>The Database</vt:lpstr>
      <vt:lpstr>The Database</vt:lpstr>
      <vt:lpstr>The Telegram Bot API</vt:lpstr>
      <vt:lpstr>The Telegram Bot API</vt:lpstr>
      <vt:lpstr>The Documentation</vt:lpstr>
      <vt:lpstr>The Commands</vt:lpstr>
      <vt:lpstr>The End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UniTN Booking Bot</dc:title>
  <dc:creator>nives pedretti</dc:creator>
  <cp:lastModifiedBy>nives pedretti</cp:lastModifiedBy>
  <cp:revision>21</cp:revision>
  <dcterms:created xsi:type="dcterms:W3CDTF">2026-02-06T12:41:47Z</dcterms:created>
  <dcterms:modified xsi:type="dcterms:W3CDTF">2026-02-26T10:32:42Z</dcterms:modified>
</cp:coreProperties>
</file>